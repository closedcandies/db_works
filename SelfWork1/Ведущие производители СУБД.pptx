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58381" y="2122408"/>
            <a:ext cx="7620000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936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Ведущие производители СУБД</a:t>
            </a:r>
            <a:endParaRPr lang="en-US" sz="393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697111" y="265128"/>
            <a:ext cx="2348389" cy="1058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75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Крупнейшие производители СУБД</a:t>
            </a:r>
            <a:endParaRPr lang="en-US" sz="1975" dirty="0"/>
          </a:p>
        </p:txBody>
      </p:sp>
      <p:sp>
        <p:nvSpPr>
          <p:cNvPr id="3" name="Bullet index 1"/>
          <p:cNvSpPr/>
          <p:nvPr/>
        </p:nvSpPr>
        <p:spPr>
          <a:xfrm>
            <a:off x="879634" y="966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01</a:t>
            </a:r>
            <a:endParaRPr lang="en-US" sz="1493" dirty="0"/>
          </a:p>
        </p:txBody>
      </p:sp>
      <p:sp>
        <p:nvSpPr>
          <p:cNvPr id="4" name="Bullet text 1"/>
          <p:cNvSpPr/>
          <p:nvPr/>
        </p:nvSpPr>
        <p:spPr>
          <a:xfrm>
            <a:off x="1388221" y="966788"/>
            <a:ext cx="2525268" cy="357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83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Oracle — мировой лидер в корпоративных СУБД</a:t>
            </a:r>
            <a:endParaRPr lang="en-US" sz="1383" dirty="0"/>
          </a:p>
        </p:txBody>
      </p:sp>
      <p:sp>
        <p:nvSpPr>
          <p:cNvPr id="5" name="Bullet index 2"/>
          <p:cNvSpPr/>
          <p:nvPr/>
        </p:nvSpPr>
        <p:spPr>
          <a:xfrm>
            <a:off x="879634" y="1728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02</a:t>
            </a:r>
            <a:endParaRPr lang="en-US" sz="1493" dirty="0"/>
          </a:p>
        </p:txBody>
      </p:sp>
      <p:sp>
        <p:nvSpPr>
          <p:cNvPr id="6" name="Bullet text 2"/>
          <p:cNvSpPr/>
          <p:nvPr/>
        </p:nvSpPr>
        <p:spPr>
          <a:xfrm>
            <a:off x="1388221" y="1728788"/>
            <a:ext cx="2525268" cy="357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83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Microsoft — популярный SQL Server</a:t>
            </a:r>
            <a:endParaRPr lang="en-US" sz="1383" dirty="0"/>
          </a:p>
        </p:txBody>
      </p:sp>
      <p:sp>
        <p:nvSpPr>
          <p:cNvPr id="7" name="Bullet index 3"/>
          <p:cNvSpPr/>
          <p:nvPr/>
        </p:nvSpPr>
        <p:spPr>
          <a:xfrm>
            <a:off x="879634" y="2490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03</a:t>
            </a:r>
            <a:endParaRPr lang="en-US" sz="1493" dirty="0"/>
          </a:p>
        </p:txBody>
      </p:sp>
      <p:sp>
        <p:nvSpPr>
          <p:cNvPr id="8" name="Bullet text 3"/>
          <p:cNvSpPr/>
          <p:nvPr/>
        </p:nvSpPr>
        <p:spPr>
          <a:xfrm>
            <a:off x="1388221" y="2490788"/>
            <a:ext cx="2525268" cy="178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83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IBM — мощные решения с DB2</a:t>
            </a:r>
            <a:endParaRPr lang="en-US" sz="1383" dirty="0"/>
          </a:p>
        </p:txBody>
      </p:sp>
      <p:sp>
        <p:nvSpPr>
          <p:cNvPr id="9" name="Bullet index 4"/>
          <p:cNvSpPr/>
          <p:nvPr/>
        </p:nvSpPr>
        <p:spPr>
          <a:xfrm>
            <a:off x="879634" y="3252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04</a:t>
            </a:r>
            <a:endParaRPr lang="en-US" sz="1493" dirty="0"/>
          </a:p>
        </p:txBody>
      </p:sp>
      <p:sp>
        <p:nvSpPr>
          <p:cNvPr id="10" name="Bullet text 4"/>
          <p:cNvSpPr/>
          <p:nvPr/>
        </p:nvSpPr>
        <p:spPr>
          <a:xfrm>
            <a:off x="1388221" y="3252788"/>
            <a:ext cx="2525268" cy="357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83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PostgreSQL — сообщество open-source</a:t>
            </a:r>
            <a:endParaRPr lang="en-US" sz="1383" dirty="0"/>
          </a:p>
        </p:txBody>
      </p:sp>
      <p:sp>
        <p:nvSpPr>
          <p:cNvPr id="11" name="Bullet index 5"/>
          <p:cNvSpPr/>
          <p:nvPr/>
        </p:nvSpPr>
        <p:spPr>
          <a:xfrm>
            <a:off x="879634" y="4014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05</a:t>
            </a:r>
            <a:endParaRPr lang="en-US" sz="1493" dirty="0"/>
          </a:p>
        </p:txBody>
      </p:sp>
      <p:sp>
        <p:nvSpPr>
          <p:cNvPr id="12" name="Bullet text 5"/>
          <p:cNvSpPr/>
          <p:nvPr/>
        </p:nvSpPr>
        <p:spPr>
          <a:xfrm>
            <a:off x="1388221" y="4014788"/>
            <a:ext cx="2525268" cy="178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83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MongoDB — лидер в NoSQL</a:t>
            </a:r>
            <a:endParaRPr lang="en-US" sz="1383" dirty="0"/>
          </a:p>
        </p:txBody>
      </p:sp>
      <p:pic>
        <p:nvPicPr>
          <p:cNvPr id="13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9916" y="2586085"/>
            <a:ext cx="2321719" cy="23217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190625" y="357188"/>
            <a:ext cx="5715000" cy="306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Oracle</a:t>
            </a:r>
            <a:endParaRPr lang="en-US" sz="1900" dirty="0"/>
          </a:p>
        </p:txBody>
      </p:sp>
      <p:sp>
        <p:nvSpPr>
          <p:cNvPr id="3" name="Subtitle 1"/>
          <p:cNvSpPr/>
          <p:nvPr/>
        </p:nvSpPr>
        <p:spPr>
          <a:xfrm>
            <a:off x="714375" y="1190625"/>
            <a:ext cx="5238750" cy="238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7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Позиция на рынке</a:t>
            </a:r>
            <a:endParaRPr lang="en-US" sz="1477" dirty="0"/>
          </a:p>
        </p:txBody>
      </p:sp>
      <p:sp>
        <p:nvSpPr>
          <p:cNvPr id="4" name="Paragraph 1"/>
          <p:cNvSpPr/>
          <p:nvPr/>
        </p:nvSpPr>
        <p:spPr>
          <a:xfrm>
            <a:off x="714375" y="1571625"/>
            <a:ext cx="523875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Oracle — крупнейший поставщик корпоративных СУБД с широкой функциональностью и высокой производительностью, особенно в банковской и финансовой сфере.</a:t>
            </a:r>
            <a:endParaRPr lang="en-US" sz="1310" dirty="0"/>
          </a:p>
        </p:txBody>
      </p:sp>
      <p:sp>
        <p:nvSpPr>
          <p:cNvPr id="5" name="Subtitle 2"/>
          <p:cNvSpPr/>
          <p:nvPr/>
        </p:nvSpPr>
        <p:spPr>
          <a:xfrm>
            <a:off x="714375" y="2524125"/>
            <a:ext cx="5238750" cy="238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7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Ключевые особенности</a:t>
            </a:r>
            <a:endParaRPr lang="en-US" sz="1477" dirty="0"/>
          </a:p>
        </p:txBody>
      </p:sp>
      <p:sp>
        <p:nvSpPr>
          <p:cNvPr id="6" name="Paragraph 2"/>
          <p:cNvSpPr/>
          <p:nvPr/>
        </p:nvSpPr>
        <p:spPr>
          <a:xfrm>
            <a:off x="714375" y="2905125"/>
            <a:ext cx="5238750" cy="6343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Поддержка масштабируемости, репликации, распределённых транзакций, а также встроенные средства безопасности и аналитики.</a:t>
            </a:r>
            <a:endParaRPr lang="en-US" sz="1310" dirty="0"/>
          </a:p>
        </p:txBody>
      </p:sp>
      <p:sp>
        <p:nvSpPr>
          <p:cNvPr id="7" name="Subtitle 3"/>
          <p:cNvSpPr/>
          <p:nvPr/>
        </p:nvSpPr>
        <p:spPr>
          <a:xfrm>
            <a:off x="714375" y="3619500"/>
            <a:ext cx="5238750" cy="238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7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Минусы</a:t>
            </a:r>
            <a:endParaRPr lang="en-US" sz="1477" dirty="0"/>
          </a:p>
        </p:txBody>
      </p:sp>
      <p:sp>
        <p:nvSpPr>
          <p:cNvPr id="8" name="Paragraph 3"/>
          <p:cNvSpPr/>
          <p:nvPr/>
        </p:nvSpPr>
        <p:spPr>
          <a:xfrm>
            <a:off x="714375" y="4000500"/>
            <a:ext cx="5238750" cy="211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Высокая стоимость лицензии и сложность настройки.</a:t>
            </a:r>
            <a:endParaRPr lang="en-US" sz="1310" dirty="0"/>
          </a:p>
        </p:txBody>
      </p:sp>
      <p:sp>
        <p:nvSpPr>
          <p:cNvPr id="9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190625" y="357188"/>
            <a:ext cx="5715000" cy="306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Microsoft SQL Server</a:t>
            </a:r>
            <a:endParaRPr lang="en-US" sz="1900" dirty="0"/>
          </a:p>
        </p:txBody>
      </p:sp>
      <p:sp>
        <p:nvSpPr>
          <p:cNvPr id="3" name="Subtitle 1"/>
          <p:cNvSpPr/>
          <p:nvPr/>
        </p:nvSpPr>
        <p:spPr>
          <a:xfrm>
            <a:off x="714375" y="1190625"/>
            <a:ext cx="5238750" cy="225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9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Широкое распространение</a:t>
            </a:r>
            <a:endParaRPr lang="en-US" sz="1399" dirty="0"/>
          </a:p>
        </p:txBody>
      </p:sp>
      <p:sp>
        <p:nvSpPr>
          <p:cNvPr id="4" name="Paragraph 1"/>
          <p:cNvSpPr/>
          <p:nvPr/>
        </p:nvSpPr>
        <p:spPr>
          <a:xfrm>
            <a:off x="714375" y="1571625"/>
            <a:ext cx="5238750" cy="6540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Microsoft SQL Server — популярная СУБД в корпоративной среде, особенно в организациях, использующих экосистему Windows и .NET.</a:t>
            </a:r>
            <a:endParaRPr lang="en-US" sz="1350" dirty="0"/>
          </a:p>
        </p:txBody>
      </p:sp>
      <p:sp>
        <p:nvSpPr>
          <p:cNvPr id="5" name="Subtitle 2"/>
          <p:cNvSpPr/>
          <p:nvPr/>
        </p:nvSpPr>
        <p:spPr>
          <a:xfrm>
            <a:off x="714375" y="2524125"/>
            <a:ext cx="5238750" cy="225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9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Интеграция и аналитика</a:t>
            </a:r>
            <a:endParaRPr lang="en-US" sz="1399" dirty="0"/>
          </a:p>
        </p:txBody>
      </p:sp>
      <p:sp>
        <p:nvSpPr>
          <p:cNvPr id="6" name="Paragraph 2"/>
          <p:cNvSpPr/>
          <p:nvPr/>
        </p:nvSpPr>
        <p:spPr>
          <a:xfrm>
            <a:off x="714375" y="2905125"/>
            <a:ext cx="5238750" cy="6540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Глубокая интеграция с Microsoft Power BI, Azure и Visual Studio делает SQL Server удобным для аналитических задач.</a:t>
            </a:r>
            <a:endParaRPr lang="en-US" sz="1350" dirty="0"/>
          </a:p>
        </p:txBody>
      </p:sp>
      <p:sp>
        <p:nvSpPr>
          <p:cNvPr id="7" name="Subtitle 3"/>
          <p:cNvSpPr/>
          <p:nvPr/>
        </p:nvSpPr>
        <p:spPr>
          <a:xfrm>
            <a:off x="714375" y="3619500"/>
            <a:ext cx="5238750" cy="225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9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Недостатки</a:t>
            </a:r>
            <a:endParaRPr lang="en-US" sz="1399" dirty="0"/>
          </a:p>
        </p:txBody>
      </p:sp>
      <p:sp>
        <p:nvSpPr>
          <p:cNvPr id="8" name="Paragraph 3"/>
          <p:cNvSpPr/>
          <p:nvPr/>
        </p:nvSpPr>
        <p:spPr>
          <a:xfrm>
            <a:off x="714375" y="4000500"/>
            <a:ext cx="5238750" cy="436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Привязанность к экосистеме Microsoft может быть ограничением для гибридных решений.</a:t>
            </a:r>
            <a:endParaRPr lang="en-US" sz="1350" dirty="0"/>
          </a:p>
        </p:txBody>
      </p:sp>
      <p:sp>
        <p:nvSpPr>
          <p:cNvPr id="9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190625" y="357188"/>
            <a:ext cx="5715000" cy="306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IBM DB2</a:t>
            </a:r>
            <a:endParaRPr lang="en-US" sz="1900" dirty="0"/>
          </a:p>
        </p:txBody>
      </p:sp>
      <p:sp>
        <p:nvSpPr>
          <p:cNvPr id="3" name="Subtitle 1"/>
          <p:cNvSpPr/>
          <p:nvPr/>
        </p:nvSpPr>
        <p:spPr>
          <a:xfrm>
            <a:off x="714375" y="1190625"/>
            <a:ext cx="5238750" cy="238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7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История и надежность</a:t>
            </a:r>
            <a:endParaRPr lang="en-US" sz="1477" dirty="0"/>
          </a:p>
        </p:txBody>
      </p:sp>
      <p:sp>
        <p:nvSpPr>
          <p:cNvPr id="4" name="Paragraph 1"/>
          <p:cNvSpPr/>
          <p:nvPr/>
        </p:nvSpPr>
        <p:spPr>
          <a:xfrm>
            <a:off x="714375" y="1571625"/>
            <a:ext cx="5238750" cy="661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DB2 от IBM — одна из старейших и надёжных СУБД, активно используется в банковском и правительственном секторе.</a:t>
            </a:r>
            <a:endParaRPr lang="en-US" sz="1367" dirty="0"/>
          </a:p>
        </p:txBody>
      </p:sp>
      <p:sp>
        <p:nvSpPr>
          <p:cNvPr id="5" name="Subtitle 2"/>
          <p:cNvSpPr/>
          <p:nvPr/>
        </p:nvSpPr>
        <p:spPr>
          <a:xfrm>
            <a:off x="714375" y="2524125"/>
            <a:ext cx="5238750" cy="238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7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Особенности</a:t>
            </a:r>
            <a:endParaRPr lang="en-US" sz="1477" dirty="0"/>
          </a:p>
        </p:txBody>
      </p:sp>
      <p:sp>
        <p:nvSpPr>
          <p:cNvPr id="6" name="Paragraph 2"/>
          <p:cNvSpPr/>
          <p:nvPr/>
        </p:nvSpPr>
        <p:spPr>
          <a:xfrm>
            <a:off x="714375" y="2905125"/>
            <a:ext cx="5238750" cy="661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Оптимизирована под большие объёмы данных, поддерживает как реляционные, так и объектно-ориентированные модели.</a:t>
            </a:r>
            <a:endParaRPr lang="en-US" sz="1367" dirty="0"/>
          </a:p>
        </p:txBody>
      </p:sp>
      <p:sp>
        <p:nvSpPr>
          <p:cNvPr id="7" name="Subtitle 3"/>
          <p:cNvSpPr/>
          <p:nvPr/>
        </p:nvSpPr>
        <p:spPr>
          <a:xfrm>
            <a:off x="714375" y="3619500"/>
            <a:ext cx="5238750" cy="238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7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Ограничения</a:t>
            </a:r>
            <a:endParaRPr lang="en-US" sz="1477" dirty="0"/>
          </a:p>
        </p:txBody>
      </p:sp>
      <p:sp>
        <p:nvSpPr>
          <p:cNvPr id="8" name="Paragraph 3"/>
          <p:cNvSpPr/>
          <p:nvPr/>
        </p:nvSpPr>
        <p:spPr>
          <a:xfrm>
            <a:off x="714375" y="4000500"/>
            <a:ext cx="5238750" cy="441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Сложность внедрения и меньшее коммьюнити по сравнению с Oracle или Microsoft.</a:t>
            </a:r>
            <a:endParaRPr lang="en-US" sz="1367" dirty="0"/>
          </a:p>
        </p:txBody>
      </p:sp>
      <p:sp>
        <p:nvSpPr>
          <p:cNvPr id="9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1182862" y="704374"/>
            <a:ext cx="2720340" cy="3734753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Question 1"/>
          <p:cNvSpPr/>
          <p:nvPr/>
        </p:nvSpPr>
        <p:spPr>
          <a:xfrm>
            <a:off x="1304401" y="891683"/>
            <a:ext cx="2453354" cy="699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4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PostgreSQL — реляционная альтернатива</a:t>
            </a:r>
            <a:endParaRPr lang="en-US" sz="1444" dirty="0"/>
          </a:p>
        </p:txBody>
      </p:sp>
      <p:sp>
        <p:nvSpPr>
          <p:cNvPr id="4" name="Answer 1"/>
          <p:cNvSpPr/>
          <p:nvPr/>
        </p:nvSpPr>
        <p:spPr>
          <a:xfrm>
            <a:off x="1291876" y="2692003"/>
            <a:ext cx="2502932" cy="1172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PostgreSQL — это бесплатная и мощная реляционная СУБД с открытым исходным кодом, которая поддерживает транзакции, функции и расширения.</a:t>
            </a:r>
            <a:endParaRPr lang="en-US" sz="1211" dirty="0"/>
          </a:p>
        </p:txBody>
      </p:sp>
      <p:sp>
        <p:nvSpPr>
          <p:cNvPr id="5" name="StaticPath"/>
          <p:cNvSpPr/>
          <p:nvPr/>
        </p:nvSpPr>
        <p:spPr>
          <a:xfrm>
            <a:off x="2201847" y="1739646"/>
            <a:ext cx="682943" cy="68294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taticPath"/>
          <p:cNvSpPr/>
          <p:nvPr/>
        </p:nvSpPr>
        <p:spPr>
          <a:xfrm>
            <a:off x="5000958" y="704374"/>
            <a:ext cx="2777490" cy="3734753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7" name="Question 2"/>
          <p:cNvSpPr/>
          <p:nvPr/>
        </p:nvSpPr>
        <p:spPr>
          <a:xfrm>
            <a:off x="5417772" y="902922"/>
            <a:ext cx="19273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4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MongoDB — гибкость NoSQL</a:t>
            </a:r>
            <a:endParaRPr lang="en-US" sz="1444" dirty="0"/>
          </a:p>
        </p:txBody>
      </p:sp>
      <p:sp>
        <p:nvSpPr>
          <p:cNvPr id="8" name="Answer 2"/>
          <p:cNvSpPr/>
          <p:nvPr/>
        </p:nvSpPr>
        <p:spPr>
          <a:xfrm>
            <a:off x="5057108" y="2692003"/>
            <a:ext cx="2635853" cy="1172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MongoDB предлагает документно-ориентированную модель, гибкость в хранении неструктурированных данных, хорошо масштабируется горизонтально.</a:t>
            </a:r>
            <a:endParaRPr lang="en-US" sz="1211" dirty="0"/>
          </a:p>
        </p:txBody>
      </p:sp>
      <p:sp>
        <p:nvSpPr>
          <p:cNvPr id="9" name="StaticPath"/>
          <p:cNvSpPr/>
          <p:nvPr/>
        </p:nvSpPr>
        <p:spPr>
          <a:xfrm>
            <a:off x="6036897" y="1739646"/>
            <a:ext cx="682943" cy="682943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40506" y="307086"/>
            <a:ext cx="3467148" cy="12200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9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Вывод и сравнение</a:t>
            </a:r>
            <a:endParaRPr lang="en-US" sz="3499" dirty="0"/>
          </a:p>
        </p:txBody>
      </p:sp>
      <p:sp>
        <p:nvSpPr>
          <p:cNvPr id="3" name="Text"/>
          <p:cNvSpPr/>
          <p:nvPr/>
        </p:nvSpPr>
        <p:spPr>
          <a:xfrm>
            <a:off x="3318177" y="2192274"/>
            <a:ext cx="3597402" cy="1253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9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Oracle — для больших корпораций. SQL Server — для интеграции с Microsoft. PostgreSQL — мощно и бесплатно. MongoDB — гибкость NoSQL. IBM — надежность для крупных систем.</a:t>
            </a:r>
            <a:endParaRPr lang="en-US" sz="1294" dirty="0"/>
          </a:p>
        </p:txBody>
      </p:sp>
      <p:sp>
        <p:nvSpPr>
          <p:cNvPr id="4" name="Question"/>
          <p:cNvSpPr/>
          <p:nvPr/>
        </p:nvSpPr>
        <p:spPr>
          <a:xfrm>
            <a:off x="240506" y="2473023"/>
            <a:ext cx="2381250" cy="530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42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Какую СУБД выбрать?</a:t>
            </a:r>
            <a:endParaRPr lang="en-US" sz="16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2025-06-10T02:18:17Z</dcterms:created>
  <dcterms:modified xsi:type="dcterms:W3CDTF">2025-06-10T02:18:17Z</dcterms:modified>
</cp:coreProperties>
</file>