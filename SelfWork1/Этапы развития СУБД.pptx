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"/>
          <p:cNvSpPr txBox="1"/>
          <p:nvPr/>
        </p:nvSpPr>
        <p:spPr>
          <a:xfrm>
            <a:off x="804100" y="2099151"/>
            <a:ext cx="7528561" cy="78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6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Этапы развития СУБД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"/>
          <p:cNvSpPr txBox="1"/>
          <p:nvPr/>
        </p:nvSpPr>
        <p:spPr>
          <a:xfrm>
            <a:off x="6079235" y="289893"/>
            <a:ext cx="2211373" cy="100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333333"/>
                </a:solidFill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Ключевые этапы развития СУБД</a:t>
            </a:r>
          </a:p>
        </p:txBody>
      </p:sp>
      <p:sp>
        <p:nvSpPr>
          <p:cNvPr id="23" name="Bullet index 1"/>
          <p:cNvSpPr txBox="1"/>
          <p:nvPr/>
        </p:nvSpPr>
        <p:spPr>
          <a:xfrm>
            <a:off x="925354" y="933656"/>
            <a:ext cx="3842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333333"/>
                </a:solidFill>
                <a:latin typeface="Prompt-Regular"/>
                <a:ea typeface="Prompt-Regular"/>
                <a:cs typeface="Prompt-Regular"/>
                <a:sym typeface="Prompt-Regular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" name="Bullet text 1"/>
          <p:cNvSpPr txBox="1"/>
          <p:nvPr/>
        </p:nvSpPr>
        <p:spPr>
          <a:xfrm>
            <a:off x="1433941" y="909136"/>
            <a:ext cx="243382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333333"/>
                </a:solidFill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1960-е: Иерархические и сетевые СУБД</a:t>
            </a:r>
          </a:p>
        </p:txBody>
      </p:sp>
      <p:sp>
        <p:nvSpPr>
          <p:cNvPr id="25" name="Bullet index 2"/>
          <p:cNvSpPr txBox="1"/>
          <p:nvPr/>
        </p:nvSpPr>
        <p:spPr>
          <a:xfrm>
            <a:off x="925354" y="1695657"/>
            <a:ext cx="3842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333333"/>
                </a:solidFill>
                <a:latin typeface="Prompt-Regular"/>
                <a:ea typeface="Prompt-Regular"/>
                <a:cs typeface="Prompt-Regular"/>
                <a:sym typeface="Prompt-Regular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6" name="Bullet text 2"/>
          <p:cNvSpPr txBox="1"/>
          <p:nvPr/>
        </p:nvSpPr>
        <p:spPr>
          <a:xfrm>
            <a:off x="1433941" y="1588192"/>
            <a:ext cx="243382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333333"/>
                </a:solidFill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1970-е: Реляционные СУБД (SQL)</a:t>
            </a:r>
          </a:p>
        </p:txBody>
      </p:sp>
      <p:sp>
        <p:nvSpPr>
          <p:cNvPr id="27" name="Bullet index 3"/>
          <p:cNvSpPr txBox="1"/>
          <p:nvPr/>
        </p:nvSpPr>
        <p:spPr>
          <a:xfrm>
            <a:off x="925354" y="2457657"/>
            <a:ext cx="3842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333333"/>
                </a:solidFill>
                <a:latin typeface="Prompt-Regular"/>
                <a:ea typeface="Prompt-Regular"/>
                <a:cs typeface="Prompt-Regular"/>
                <a:sym typeface="Prompt-Regular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8" name="Bullet text 3"/>
          <p:cNvSpPr txBox="1"/>
          <p:nvPr/>
        </p:nvSpPr>
        <p:spPr>
          <a:xfrm>
            <a:off x="1433941" y="2433136"/>
            <a:ext cx="243382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333333"/>
                </a:solidFill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1980-90-е: Объектно-ориентированные СУБД</a:t>
            </a:r>
          </a:p>
        </p:txBody>
      </p:sp>
      <p:sp>
        <p:nvSpPr>
          <p:cNvPr id="29" name="Bullet index 4"/>
          <p:cNvSpPr txBox="1"/>
          <p:nvPr/>
        </p:nvSpPr>
        <p:spPr>
          <a:xfrm>
            <a:off x="925354" y="3219656"/>
            <a:ext cx="3842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333333"/>
                </a:solidFill>
                <a:latin typeface="Prompt-Regular"/>
                <a:ea typeface="Prompt-Regular"/>
                <a:cs typeface="Prompt-Regular"/>
                <a:sym typeface="Prompt-Regular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0" name="Bullet text 4"/>
          <p:cNvSpPr txBox="1"/>
          <p:nvPr/>
        </p:nvSpPr>
        <p:spPr>
          <a:xfrm>
            <a:off x="1433941" y="3112192"/>
            <a:ext cx="243382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333333"/>
                </a:solidFill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2000-е: NoSQL — работа с Big Data</a:t>
            </a:r>
          </a:p>
        </p:txBody>
      </p:sp>
      <p:sp>
        <p:nvSpPr>
          <p:cNvPr id="31" name="Bullet index 5"/>
          <p:cNvSpPr txBox="1"/>
          <p:nvPr/>
        </p:nvSpPr>
        <p:spPr>
          <a:xfrm>
            <a:off x="925354" y="3981656"/>
            <a:ext cx="38428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333333"/>
                </a:solidFill>
                <a:latin typeface="Prompt-Regular"/>
                <a:ea typeface="Prompt-Regular"/>
                <a:cs typeface="Prompt-Regular"/>
                <a:sym typeface="Prompt-Regular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2" name="Bullet text 5"/>
          <p:cNvSpPr txBox="1"/>
          <p:nvPr/>
        </p:nvSpPr>
        <p:spPr>
          <a:xfrm>
            <a:off x="1433941" y="3957136"/>
            <a:ext cx="2433828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333333"/>
                </a:solidFill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2010-е+: Облачные и распределённые СУБД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"/>
          <p:cNvSpPr txBox="1"/>
          <p:nvPr/>
        </p:nvSpPr>
        <p:spPr>
          <a:xfrm>
            <a:off x="760094" y="307554"/>
            <a:ext cx="562356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900">
                <a:solidFill>
                  <a:srgbClr val="333333"/>
                </a:solidFill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Иерархические и сетевые СУБД</a:t>
            </a:r>
          </a:p>
        </p:txBody>
      </p:sp>
      <p:sp>
        <p:nvSpPr>
          <p:cNvPr id="35" name="Subtitle 1"/>
          <p:cNvSpPr txBox="1"/>
          <p:nvPr/>
        </p:nvSpPr>
        <p:spPr>
          <a:xfrm>
            <a:off x="760094" y="11516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Появление</a:t>
            </a:r>
          </a:p>
        </p:txBody>
      </p:sp>
      <p:sp>
        <p:nvSpPr>
          <p:cNvPr id="36" name="Paragraph 1"/>
          <p:cNvSpPr txBox="1"/>
          <p:nvPr/>
        </p:nvSpPr>
        <p:spPr>
          <a:xfrm>
            <a:off x="760094" y="1547717"/>
            <a:ext cx="514731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В 1960-х годах появились первые СУБД, основанные на иерархических (IMS) и сетевых моделях (CODASYL), применялись в мэйнфреймах.</a:t>
            </a:r>
          </a:p>
        </p:txBody>
      </p:sp>
      <p:sp>
        <p:nvSpPr>
          <p:cNvPr id="37" name="Subtitle 2"/>
          <p:cNvSpPr txBox="1"/>
          <p:nvPr/>
        </p:nvSpPr>
        <p:spPr>
          <a:xfrm>
            <a:off x="760094" y="24851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Особенности</a:t>
            </a:r>
          </a:p>
        </p:txBody>
      </p:sp>
      <p:sp>
        <p:nvSpPr>
          <p:cNvPr id="38" name="Paragraph 2"/>
          <p:cNvSpPr txBox="1"/>
          <p:nvPr/>
        </p:nvSpPr>
        <p:spPr>
          <a:xfrm>
            <a:off x="760094" y="2873946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Жёсткая структура, сложность изменений, высокая скорость при чётко заданной структуре.</a:t>
            </a:r>
          </a:p>
        </p:txBody>
      </p:sp>
      <p:sp>
        <p:nvSpPr>
          <p:cNvPr id="39" name="Subtitle 3"/>
          <p:cNvSpPr txBox="1"/>
          <p:nvPr/>
        </p:nvSpPr>
        <p:spPr>
          <a:xfrm>
            <a:off x="760094" y="3580566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Примеры</a:t>
            </a:r>
          </a:p>
        </p:txBody>
      </p:sp>
      <p:sp>
        <p:nvSpPr>
          <p:cNvPr id="40" name="Paragraph 3"/>
          <p:cNvSpPr txBox="1"/>
          <p:nvPr/>
        </p:nvSpPr>
        <p:spPr>
          <a:xfrm>
            <a:off x="760094" y="3962050"/>
            <a:ext cx="514731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IMS от IBM, IDMS от Cullinet.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"/>
          <p:cNvSpPr txBox="1"/>
          <p:nvPr/>
        </p:nvSpPr>
        <p:spPr>
          <a:xfrm>
            <a:off x="760094" y="285123"/>
            <a:ext cx="562356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900">
                <a:solidFill>
                  <a:srgbClr val="333333"/>
                </a:solidFill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Реляционные СУБД (1970-е)</a:t>
            </a:r>
          </a:p>
        </p:txBody>
      </p:sp>
      <p:sp>
        <p:nvSpPr>
          <p:cNvPr id="43" name="Subtitle 1"/>
          <p:cNvSpPr txBox="1"/>
          <p:nvPr/>
        </p:nvSpPr>
        <p:spPr>
          <a:xfrm>
            <a:off x="760094" y="1152557"/>
            <a:ext cx="5147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Революция в моделировании данных</a:t>
            </a:r>
          </a:p>
        </p:txBody>
      </p:sp>
      <p:sp>
        <p:nvSpPr>
          <p:cNvPr id="44" name="Paragraph 1"/>
          <p:cNvSpPr txBox="1"/>
          <p:nvPr/>
        </p:nvSpPr>
        <p:spPr>
          <a:xfrm>
            <a:off x="760094" y="1550312"/>
            <a:ext cx="514731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Предложенная Эдгаром Коддом модель легла в основу SQL-СУБД, обеспечив гибкость, стандартизацию и широкое распространение.</a:t>
            </a:r>
          </a:p>
        </p:txBody>
      </p:sp>
      <p:sp>
        <p:nvSpPr>
          <p:cNvPr id="45" name="Subtitle 2"/>
          <p:cNvSpPr txBox="1"/>
          <p:nvPr/>
        </p:nvSpPr>
        <p:spPr>
          <a:xfrm>
            <a:off x="760094" y="2486057"/>
            <a:ext cx="5147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Ключевые особенности</a:t>
            </a:r>
          </a:p>
        </p:txBody>
      </p:sp>
      <p:sp>
        <p:nvSpPr>
          <p:cNvPr id="46" name="Paragraph 2"/>
          <p:cNvSpPr txBox="1"/>
          <p:nvPr/>
        </p:nvSpPr>
        <p:spPr>
          <a:xfrm>
            <a:off x="760094" y="2875684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Использование таблиц, строгие отношения между сущностями, язык SQL для манипуляций и запросов.</a:t>
            </a:r>
          </a:p>
        </p:txBody>
      </p:sp>
      <p:sp>
        <p:nvSpPr>
          <p:cNvPr id="47" name="Subtitle 3"/>
          <p:cNvSpPr txBox="1"/>
          <p:nvPr/>
        </p:nvSpPr>
        <p:spPr>
          <a:xfrm>
            <a:off x="760094" y="3581432"/>
            <a:ext cx="5147312" cy="294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Значение</a:t>
            </a:r>
          </a:p>
        </p:txBody>
      </p:sp>
      <p:sp>
        <p:nvSpPr>
          <p:cNvPr id="48" name="Paragraph 3"/>
          <p:cNvSpPr txBox="1"/>
          <p:nvPr/>
        </p:nvSpPr>
        <p:spPr>
          <a:xfrm>
            <a:off x="760094" y="3971059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До сих пор реляционные СУБД — основа корпоративных информационных систем.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"/>
          <p:cNvSpPr txBox="1"/>
          <p:nvPr/>
        </p:nvSpPr>
        <p:spPr>
          <a:xfrm>
            <a:off x="760094" y="307554"/>
            <a:ext cx="562356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900">
                <a:solidFill>
                  <a:srgbClr val="333333"/>
                </a:solidFill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Объектно-ориентированные СУБД</a:t>
            </a:r>
          </a:p>
        </p:txBody>
      </p:sp>
      <p:sp>
        <p:nvSpPr>
          <p:cNvPr id="51" name="Subtitle 1"/>
          <p:cNvSpPr txBox="1"/>
          <p:nvPr/>
        </p:nvSpPr>
        <p:spPr>
          <a:xfrm>
            <a:off x="760094" y="11516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Новая парадигма</a:t>
            </a:r>
          </a:p>
        </p:txBody>
      </p:sp>
      <p:sp>
        <p:nvSpPr>
          <p:cNvPr id="52" name="Paragraph 1"/>
          <p:cNvSpPr txBox="1"/>
          <p:nvPr/>
        </p:nvSpPr>
        <p:spPr>
          <a:xfrm>
            <a:off x="760094" y="1548574"/>
            <a:ext cx="514731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В 1980-90-х годах появились СУБД, поддерживающие хранение объектов, классов и наследования — ближе к языкам программирования.</a:t>
            </a:r>
          </a:p>
        </p:txBody>
      </p:sp>
      <p:sp>
        <p:nvSpPr>
          <p:cNvPr id="53" name="Subtitle 2"/>
          <p:cNvSpPr txBox="1"/>
          <p:nvPr/>
        </p:nvSpPr>
        <p:spPr>
          <a:xfrm>
            <a:off x="760094" y="24851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Преимущества</a:t>
            </a:r>
          </a:p>
        </p:txBody>
      </p:sp>
      <p:sp>
        <p:nvSpPr>
          <p:cNvPr id="54" name="Paragraph 2"/>
          <p:cNvSpPr txBox="1"/>
          <p:nvPr/>
        </p:nvSpPr>
        <p:spPr>
          <a:xfrm>
            <a:off x="760094" y="2983674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Естественная интеграция с объектными языками, возможность хранения сложных структур прямо в базе.</a:t>
            </a:r>
          </a:p>
        </p:txBody>
      </p:sp>
      <p:sp>
        <p:nvSpPr>
          <p:cNvPr id="55" name="Subtitle 3"/>
          <p:cNvSpPr txBox="1"/>
          <p:nvPr/>
        </p:nvSpPr>
        <p:spPr>
          <a:xfrm>
            <a:off x="760094" y="3580566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Примеры</a:t>
            </a:r>
          </a:p>
        </p:txBody>
      </p:sp>
      <p:sp>
        <p:nvSpPr>
          <p:cNvPr id="56" name="Paragraph 3"/>
          <p:cNvSpPr txBox="1"/>
          <p:nvPr/>
        </p:nvSpPr>
        <p:spPr>
          <a:xfrm>
            <a:off x="760094" y="3962336"/>
            <a:ext cx="514731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Versant, ObjectDB, Caché.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"/>
          <p:cNvSpPr txBox="1"/>
          <p:nvPr/>
        </p:nvSpPr>
        <p:spPr>
          <a:xfrm>
            <a:off x="760094" y="285123"/>
            <a:ext cx="5623562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900">
                <a:solidFill>
                  <a:srgbClr val="333333"/>
                </a:solidFill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NoSQL и Big Data</a:t>
            </a:r>
          </a:p>
        </p:txBody>
      </p:sp>
      <p:sp>
        <p:nvSpPr>
          <p:cNvPr id="59" name="Subtitle 1"/>
          <p:cNvSpPr txBox="1"/>
          <p:nvPr/>
        </p:nvSpPr>
        <p:spPr>
          <a:xfrm>
            <a:off x="760094" y="11516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Новый вызов</a:t>
            </a:r>
          </a:p>
        </p:txBody>
      </p:sp>
      <p:sp>
        <p:nvSpPr>
          <p:cNvPr id="60" name="Paragraph 1"/>
          <p:cNvSpPr txBox="1"/>
          <p:nvPr/>
        </p:nvSpPr>
        <p:spPr>
          <a:xfrm>
            <a:off x="760094" y="1653675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В 2000-х рост интернет-сервисов и объёмов данных привёл к созданию нереляционных баз данных (NoSQL).</a:t>
            </a:r>
          </a:p>
        </p:txBody>
      </p:sp>
      <p:sp>
        <p:nvSpPr>
          <p:cNvPr id="61" name="Subtitle 2"/>
          <p:cNvSpPr txBox="1"/>
          <p:nvPr/>
        </p:nvSpPr>
        <p:spPr>
          <a:xfrm>
            <a:off x="760094" y="24851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Типы и особенности</a:t>
            </a:r>
          </a:p>
        </p:txBody>
      </p:sp>
      <p:sp>
        <p:nvSpPr>
          <p:cNvPr id="62" name="Paragraph 2"/>
          <p:cNvSpPr txBox="1"/>
          <p:nvPr/>
        </p:nvSpPr>
        <p:spPr>
          <a:xfrm>
            <a:off x="760094" y="2987175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Документные, графовые, ключ-значение, колоночные СУБД. Высокая масштабируемость, отсутствие фиксированной схемы.</a:t>
            </a:r>
          </a:p>
        </p:txBody>
      </p:sp>
      <p:sp>
        <p:nvSpPr>
          <p:cNvPr id="63" name="Subtitle 3"/>
          <p:cNvSpPr txBox="1"/>
          <p:nvPr/>
        </p:nvSpPr>
        <p:spPr>
          <a:xfrm>
            <a:off x="760094" y="3580566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Примеры</a:t>
            </a:r>
          </a:p>
        </p:txBody>
      </p:sp>
      <p:sp>
        <p:nvSpPr>
          <p:cNvPr id="64" name="Paragraph 3"/>
          <p:cNvSpPr txBox="1"/>
          <p:nvPr/>
        </p:nvSpPr>
        <p:spPr>
          <a:xfrm>
            <a:off x="760094" y="3963503"/>
            <a:ext cx="514731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MongoDB, Cassandra, Redis, Neo4j.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"/>
          <p:cNvSpPr txBox="1"/>
          <p:nvPr/>
        </p:nvSpPr>
        <p:spPr>
          <a:xfrm>
            <a:off x="760094" y="302569"/>
            <a:ext cx="56235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333333"/>
                </a:solidFill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Облачные и распределённые СУБД</a:t>
            </a:r>
          </a:p>
        </p:txBody>
      </p:sp>
      <p:sp>
        <p:nvSpPr>
          <p:cNvPr id="67" name="Subtitle 1"/>
          <p:cNvSpPr txBox="1"/>
          <p:nvPr/>
        </p:nvSpPr>
        <p:spPr>
          <a:xfrm>
            <a:off x="760094" y="11516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Новая эра хранения</a:t>
            </a:r>
          </a:p>
        </p:txBody>
      </p:sp>
      <p:sp>
        <p:nvSpPr>
          <p:cNvPr id="68" name="Paragraph 1"/>
          <p:cNvSpPr txBox="1"/>
          <p:nvPr/>
        </p:nvSpPr>
        <p:spPr>
          <a:xfrm>
            <a:off x="760094" y="1653675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С 2010-х годов активно развиваются СУБД, рассчитанные на работу в облаке и распределённых средах.</a:t>
            </a:r>
          </a:p>
        </p:txBody>
      </p:sp>
      <p:sp>
        <p:nvSpPr>
          <p:cNvPr id="69" name="Subtitle 2"/>
          <p:cNvSpPr txBox="1"/>
          <p:nvPr/>
        </p:nvSpPr>
        <p:spPr>
          <a:xfrm>
            <a:off x="760094" y="2485191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Преимущества</a:t>
            </a:r>
          </a:p>
        </p:txBody>
      </p:sp>
      <p:sp>
        <p:nvSpPr>
          <p:cNvPr id="70" name="Paragraph 2"/>
          <p:cNvSpPr txBox="1"/>
          <p:nvPr/>
        </p:nvSpPr>
        <p:spPr>
          <a:xfrm>
            <a:off x="760094" y="2987175"/>
            <a:ext cx="5147312" cy="49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Гибкость масштабирования, высокая доступность, автоматическое резервное копирование и восстановление.</a:t>
            </a:r>
          </a:p>
        </p:txBody>
      </p:sp>
      <p:sp>
        <p:nvSpPr>
          <p:cNvPr id="71" name="Subtitle 3"/>
          <p:cNvSpPr txBox="1"/>
          <p:nvPr/>
        </p:nvSpPr>
        <p:spPr>
          <a:xfrm>
            <a:off x="760094" y="3580566"/>
            <a:ext cx="5147312" cy="32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latin typeface="OpenSans-Bold"/>
                <a:ea typeface="OpenSans-Bold"/>
                <a:cs typeface="OpenSans-Bold"/>
                <a:sym typeface="OpenSans-Bold"/>
              </a:defRPr>
            </a:lvl1pPr>
          </a:lstStyle>
          <a:p>
            <a:pPr/>
            <a:r>
              <a:t>Примеры</a:t>
            </a:r>
          </a:p>
        </p:txBody>
      </p:sp>
      <p:sp>
        <p:nvSpPr>
          <p:cNvPr id="72" name="Paragraph 3"/>
          <p:cNvSpPr txBox="1"/>
          <p:nvPr/>
        </p:nvSpPr>
        <p:spPr>
          <a:xfrm>
            <a:off x="760094" y="3963503"/>
            <a:ext cx="5147312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latin typeface="OpenSans-Regular"/>
                <a:ea typeface="OpenSans-Regular"/>
                <a:cs typeface="OpenSans-Regular"/>
                <a:sym typeface="OpenSans-Regular"/>
              </a:defRPr>
            </a:lvl1pPr>
          </a:lstStyle>
          <a:p>
            <a:pPr/>
            <a:r>
              <a:t>Google BigQuery, Amazon Aurora, CockroachDB.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