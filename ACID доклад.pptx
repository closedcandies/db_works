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49" y="2009180"/>
            <a:ext cx="2000250" cy="112514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42101" y="1525553"/>
            <a:ext cx="4130399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D64545"/>
                </a:solidFill>
              </a:rPr>
              <a:t>ACID</a:t>
            </a:r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02A43"/>
                </a:solidFill>
              </a:rPr>
              <a:t> в Базах </a:t>
            </a:r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02A43"/>
                </a:solidFill>
              </a:rPr>
              <a:t>Данных</a:t>
            </a:r>
            <a:endParaRPr lang="en-US" sz="2862" dirty="0"/>
          </a:p>
        </p:txBody>
      </p:sp>
      <p:sp>
        <p:nvSpPr>
          <p:cNvPr id="5" name="Text 1"/>
          <p:cNvSpPr/>
          <p:nvPr/>
        </p:nvSpPr>
        <p:spPr>
          <a:xfrm>
            <a:off x="4442101" y="3142887"/>
            <a:ext cx="4130399" cy="47505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E68"/>
                </a:solidFill>
              </a:rPr>
              <a:t>Глубокое Погружение в Атомарность, Согласованность, Изолированность и Долговечность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785813"/>
            <a:ext cx="3673925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31175" y="1104072"/>
            <a:ext cx="404132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2A43"/>
                </a:solidFill>
              </a:rPr>
              <a:t>Что такое ACID?</a:t>
            </a:r>
            <a:endParaRPr lang="en-US" sz="1808" dirty="0"/>
          </a:p>
        </p:txBody>
      </p:sp>
      <p:sp>
        <p:nvSpPr>
          <p:cNvPr id="5" name="Text 1"/>
          <p:cNvSpPr/>
          <p:nvPr/>
        </p:nvSpPr>
        <p:spPr>
          <a:xfrm>
            <a:off x="4531175" y="1626989"/>
            <a:ext cx="40413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ACID — это аббревиатура четырех ключевых свойств, которые гарантируют надежность транзакций в базах данных:</a:t>
            </a:r>
            <a:endParaRPr lang="en-US" sz="834" dirty="0"/>
          </a:p>
        </p:txBody>
      </p:sp>
      <p:sp>
        <p:nvSpPr>
          <p:cNvPr id="6" name="Text 2"/>
          <p:cNvSpPr/>
          <p:nvPr/>
        </p:nvSpPr>
        <p:spPr>
          <a:xfrm>
            <a:off x="4674050" y="2207028"/>
            <a:ext cx="38984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02A43"/>
                </a:solidFill>
              </a:rPr>
              <a:t>Атомарность (Atomicity):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 Все или ничего. Транзакция — это единая,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неделимая единица работы.</a:t>
            </a:r>
            <a:endParaRPr lang="en-US" sz="734" dirty="0"/>
          </a:p>
        </p:txBody>
      </p:sp>
      <p:sp>
        <p:nvSpPr>
          <p:cNvPr id="7" name="Text 3"/>
          <p:cNvSpPr/>
          <p:nvPr/>
        </p:nvSpPr>
        <p:spPr>
          <a:xfrm>
            <a:off x="4674050" y="2657084"/>
            <a:ext cx="38984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02A43"/>
                </a:solidFill>
              </a:rPr>
              <a:t>Согласованность (Consistency):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 Транзакция должна переводить базу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данных из одного корректного состояния в другое, соблюдая все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правила и ограничения.</a:t>
            </a:r>
            <a:endParaRPr lang="en-US" sz="734" dirty="0"/>
          </a:p>
        </p:txBody>
      </p:sp>
      <p:sp>
        <p:nvSpPr>
          <p:cNvPr id="8" name="Text 4"/>
          <p:cNvSpPr/>
          <p:nvPr/>
        </p:nvSpPr>
        <p:spPr>
          <a:xfrm>
            <a:off x="4674050" y="3267875"/>
            <a:ext cx="38984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02A43"/>
                </a:solidFill>
              </a:rPr>
              <a:t>Изолированность (Isolation):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 Параллельные транзакции не должны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влиять друг на друга. Они должны выполняться последовательно.</a:t>
            </a:r>
            <a:endParaRPr lang="en-US" sz="734" dirty="0"/>
          </a:p>
        </p:txBody>
      </p:sp>
      <p:sp>
        <p:nvSpPr>
          <p:cNvPr id="9" name="Text 5"/>
          <p:cNvSpPr/>
          <p:nvPr/>
        </p:nvSpPr>
        <p:spPr>
          <a:xfrm>
            <a:off x="4674050" y="3717931"/>
            <a:ext cx="38984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02A43"/>
                </a:solidFill>
              </a:rPr>
              <a:t>Долговечность (Durability):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 После фиксации транзакции ее изменения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должны сохраняться, даже в случае сбоя системы.</a:t>
            </a:r>
            <a:endParaRPr lang="en-US" sz="7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3673925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31175" y="571500"/>
            <a:ext cx="40413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Атомарность (A)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531175" y="988684"/>
            <a:ext cx="40413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Гарантирует, что транзакция рассматривается как единая, неделимая единица. Если какая-либо часть транзакции завершается неудачей, вся транзакция откатывается.</a:t>
            </a:r>
            <a:endParaRPr lang="en-US" sz="727" dirty="0"/>
          </a:p>
        </p:txBody>
      </p:sp>
      <p:sp>
        <p:nvSpPr>
          <p:cNvPr id="6" name="Text 2"/>
          <p:cNvSpPr/>
          <p:nvPr/>
        </p:nvSpPr>
        <p:spPr>
          <a:xfrm>
            <a:off x="4531175" y="1697310"/>
            <a:ext cx="40413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64545"/>
                </a:solidFill>
              </a:rPr>
              <a:t>Реализация в PostgreSQL</a:t>
            </a:r>
            <a:endParaRPr lang="en-US" sz="634" dirty="0"/>
          </a:p>
        </p:txBody>
      </p:sp>
      <p:sp>
        <p:nvSpPr>
          <p:cNvPr id="7" name="Text 3"/>
          <p:cNvSpPr/>
          <p:nvPr/>
        </p:nvSpPr>
        <p:spPr>
          <a:xfrm>
            <a:off x="4531175" y="1966987"/>
            <a:ext cx="40413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Использует команды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BEGIN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 и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ROLLBACK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. При возникновении ошибки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PostgreSQL автоматически откатывает транзакцию.</a:t>
            </a:r>
            <a:endParaRPr lang="en-US" sz="674" dirty="0"/>
          </a:p>
        </p:txBody>
      </p:sp>
      <p:sp>
        <p:nvSpPr>
          <p:cNvPr id="8" name="Text 4"/>
          <p:cNvSpPr/>
          <p:nvPr/>
        </p:nvSpPr>
        <p:spPr>
          <a:xfrm>
            <a:off x="4531175" y="2474193"/>
            <a:ext cx="40413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64545"/>
                </a:solidFill>
              </a:rPr>
              <a:t>Пример PostgreSQL</a:t>
            </a:r>
            <a:endParaRPr lang="en-US" sz="634" dirty="0"/>
          </a:p>
        </p:txBody>
      </p:sp>
      <p:sp>
        <p:nvSpPr>
          <p:cNvPr id="9" name="Shape 5"/>
          <p:cNvSpPr/>
          <p:nvPr/>
        </p:nvSpPr>
        <p:spPr>
          <a:xfrm>
            <a:off x="4531175" y="2801020"/>
            <a:ext cx="4041325" cy="61146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0" name="Shape 6"/>
          <p:cNvSpPr/>
          <p:nvPr/>
        </p:nvSpPr>
        <p:spPr>
          <a:xfrm>
            <a:off x="4531175" y="2801020"/>
            <a:ext cx="28575" cy="61146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Text 7"/>
          <p:cNvSpPr/>
          <p:nvPr/>
        </p:nvSpPr>
        <p:spPr>
          <a:xfrm>
            <a:off x="4531175" y="2801020"/>
            <a:ext cx="4041325" cy="61146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BEGIN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UPDATE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SET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 balance = balance - 100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WHERE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 account_id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90EE90"/>
                </a:solidFill>
              </a:rPr>
              <a:t>'A'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UPDATE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SET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 balance = balance + 100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WHERE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 account_id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90EE90"/>
                </a:solidFill>
              </a:rPr>
              <a:t>'B'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8D8EA"/>
                </a:solidFill>
              </a:rPr>
              <a:t>;</a:t>
            </a:r>
            <a:endParaRPr lang="en-US" sz="568" dirty="0"/>
          </a:p>
        </p:txBody>
      </p:sp>
      <p:sp>
        <p:nvSpPr>
          <p:cNvPr id="12" name="Text 8"/>
          <p:cNvSpPr/>
          <p:nvPr/>
        </p:nvSpPr>
        <p:spPr>
          <a:xfrm>
            <a:off x="4531175" y="3641080"/>
            <a:ext cx="4041325" cy="37861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💡 Предотвращает частичные обновления, гарантируя, что деньги не будут потеряны или созданы.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3673925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31175" y="571500"/>
            <a:ext cx="40413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Согласованность (C)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531175" y="974396"/>
            <a:ext cx="40413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Гарантирует, что транзакция переводит базу данных из одного корректного состояния в другое, соблюдая все определенные ограничения.</a:t>
            </a:r>
            <a:endParaRPr lang="en-US" sz="727" dirty="0"/>
          </a:p>
        </p:txBody>
      </p:sp>
      <p:sp>
        <p:nvSpPr>
          <p:cNvPr id="6" name="Text 2"/>
          <p:cNvSpPr/>
          <p:nvPr/>
        </p:nvSpPr>
        <p:spPr>
          <a:xfrm>
            <a:off x="4531175" y="1494439"/>
            <a:ext cx="40413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64545"/>
                </a:solidFill>
              </a:rPr>
              <a:t>Реализация в PostgreSQL</a:t>
            </a:r>
            <a:endParaRPr lang="en-US" sz="634" dirty="0"/>
          </a:p>
        </p:txBody>
      </p:sp>
      <p:sp>
        <p:nvSpPr>
          <p:cNvPr id="7" name="Text 3"/>
          <p:cNvSpPr/>
          <p:nvPr/>
        </p:nvSpPr>
        <p:spPr>
          <a:xfrm>
            <a:off x="4531175" y="1749828"/>
            <a:ext cx="40413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Обеспечивается через ограничения: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PRIMARY KEY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FOREIGN KEY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CHECK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UNIQUE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NOT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NULL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.</a:t>
            </a:r>
            <a:endParaRPr lang="en-US" sz="674" dirty="0"/>
          </a:p>
        </p:txBody>
      </p:sp>
      <p:sp>
        <p:nvSpPr>
          <p:cNvPr id="8" name="Text 4"/>
          <p:cNvSpPr/>
          <p:nvPr/>
        </p:nvSpPr>
        <p:spPr>
          <a:xfrm>
            <a:off x="4531175" y="2228459"/>
            <a:ext cx="40413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64545"/>
                </a:solidFill>
              </a:rPr>
              <a:t>Пример PostgreSQL</a:t>
            </a:r>
            <a:endParaRPr lang="en-US" sz="634" dirty="0"/>
          </a:p>
        </p:txBody>
      </p:sp>
      <p:sp>
        <p:nvSpPr>
          <p:cNvPr id="9" name="Shape 5"/>
          <p:cNvSpPr/>
          <p:nvPr/>
        </p:nvSpPr>
        <p:spPr>
          <a:xfrm>
            <a:off x="4531175" y="2526711"/>
            <a:ext cx="4041325" cy="104298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0" name="Shape 6"/>
          <p:cNvSpPr/>
          <p:nvPr/>
        </p:nvSpPr>
        <p:spPr>
          <a:xfrm>
            <a:off x="4531175" y="2526711"/>
            <a:ext cx="28575" cy="104298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Text 7"/>
          <p:cNvSpPr/>
          <p:nvPr/>
        </p:nvSpPr>
        <p:spPr>
          <a:xfrm>
            <a:off x="4531175" y="2526711"/>
            <a:ext cx="4041325" cy="104298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CREATE TABLE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employees (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id 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SERIAL PRIMARY KEY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,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age 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INT CHECK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(age &gt;= 18)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);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BEGIN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INSERT INTO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employees (age) 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VALUES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(25); 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08080"/>
                </a:solidFill>
              </a:rPr>
              <a:t>-- Корректно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INSERT INTO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employees (age) 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VALUES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(16); 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08080"/>
                </a:solidFill>
              </a:rPr>
              <a:t>-- Ошибка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;</a:t>
            </a:r>
            <a:endParaRPr lang="en-US" sz="516" dirty="0"/>
          </a:p>
        </p:txBody>
      </p:sp>
      <p:sp>
        <p:nvSpPr>
          <p:cNvPr id="12" name="Text 8"/>
          <p:cNvSpPr/>
          <p:nvPr/>
        </p:nvSpPr>
        <p:spPr>
          <a:xfrm>
            <a:off x="4531175" y="3769723"/>
            <a:ext cx="4041325" cy="3643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💡 Вторая операция INSERT завершается ошибкой, откатывая всю транзакцию и сохраняя согласованность.</a:t>
            </a:r>
            <a:endParaRPr lang="en-US" sz="6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2A43"/>
                </a:solidFill>
              </a:rPr>
              <a:t>Изолированность (I)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822954"/>
            <a:ext cx="8001000" cy="4143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Гарантирует, что параллельные транзакции выполняются независимо, предотвращая видимость незафиксированных изменений одной транзакции для других.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71500" y="1323017"/>
            <a:ext cx="8001000" cy="216098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64545"/>
                </a:solidFill>
              </a:rPr>
              <a:t>Реализация в PostgreSQL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571500" y="1624840"/>
            <a:ext cx="8001000" cy="37716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PostgreSQL использует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4E68"/>
                </a:solidFill>
              </a:rPr>
              <a:t>Многоверсионный Контроль Параллелизма (MVCC)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, чтобы предоставить каждой транзакции согласованный "снимок" базы данных.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Поддерживаемые уровни изоляции: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714375" y="2216321"/>
            <a:ext cx="7858125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• Read Committed (по умолчанию):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 Транзакции видят только зафиксированные данные.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14375" y="2431331"/>
            <a:ext cx="7858125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• Repeatable Read: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 Предотвращает неповторяемое чтение, используя согласованный снимок.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714375" y="2646341"/>
            <a:ext cx="7858125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• Serializable: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 Гарантирует, что транзакции выполняются так, как если бы они были единственными в системе.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71500" y="2889926"/>
            <a:ext cx="8001000" cy="216098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64545"/>
                </a:solidFill>
              </a:rPr>
              <a:t>Пример PostgreSQL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571500" y="3248899"/>
            <a:ext cx="8001000" cy="110013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248899"/>
            <a:ext cx="28575" cy="110013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248899"/>
            <a:ext cx="8001000" cy="110013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-- Транзакция 1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SET TRANSACTION ISOLATION LEVEL REPEATABLE READ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BEGIN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SELECT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 balance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FROM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WHERE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 account_id =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90EE90"/>
                </a:solidFill>
              </a:rPr>
              <a:t>'A'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-- Читает 500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-- ... Другая транзакция обновляет баланс до 600 ...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SELECT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 balance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FROM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WHERE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 account_id =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90EE90"/>
                </a:solidFill>
              </a:rPr>
              <a:t>'A'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-- Все еще читает 500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8D8EA"/>
                </a:solidFill>
              </a:rPr>
              <a:t>;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571500" y="4434762"/>
            <a:ext cx="8001000" cy="2457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4434762"/>
            <a:ext cx="8001000" cy="1428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4434762"/>
            <a:ext cx="8001000" cy="24573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2A43"/>
                </a:solidFill>
              </a:rPr>
              <a:t>💡 MVCC изолирует транзакции от параллельных обновлений до их фиксации, поддерживая согласованность данных.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2A43"/>
                </a:solidFill>
              </a:rPr>
              <a:t>Долговечность (D)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Гарантирует, что после фиксации транзакции ее изменения сохраняются в базе данных навсегда и не будут потеряны даже в случае сбоя системы (например, отключения питания).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71500" y="1508754"/>
            <a:ext cx="80010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64545"/>
                </a:solidFill>
              </a:rPr>
              <a:t>Реализация в PostgreSQL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571500" y="1835581"/>
            <a:ext cx="6429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Основывается на Журналировании с Опережающей Записью (WAL), которое записывает все изменения на энергонезависимый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носитель до того, как транзакция будет зафиксирована. Команда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 гарантирует сброс изменений на диск.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571500" y="2441349"/>
            <a:ext cx="80010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64545"/>
                </a:solidFill>
              </a:rPr>
              <a:t>Пример PostgreSQL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571500" y="2782463"/>
            <a:ext cx="6429375" cy="67430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782463"/>
            <a:ext cx="28575" cy="67430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782463"/>
            <a:ext cx="6429375" cy="67430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BEGIN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INSERT INTO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 orders (order_id, product, amount)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VALUES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0EE90"/>
                </a:solidFill>
              </a:rPr>
              <a:t>'Server'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1999.99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);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8D8EA"/>
                </a:solidFill>
              </a:rPr>
              <a:t>;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571500" y="3742516"/>
            <a:ext cx="6429375" cy="455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742516"/>
            <a:ext cx="6429375" cy="2143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742516"/>
            <a:ext cx="6429375" cy="45574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2A43"/>
                </a:solidFill>
              </a:rPr>
              <a:t>💡 После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2A43"/>
                </a:solidFill>
              </a:rPr>
              <a:t> система гарантирует, что данные записаны в WAL, делая изменение постоянным и восстанавливаемым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2A43"/>
                </a:solidFill>
              </a:rPr>
              <a:t>после сбоя системы.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014913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2A43"/>
                </a:solidFill>
              </a:rPr>
              <a:t>Инструментарий PostgreSQL для ACID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094417"/>
            <a:ext cx="5014913" cy="337542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094417"/>
            <a:ext cx="1755214" cy="337542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0F4F8"/>
                </a:solidFill>
              </a:rPr>
              <a:t>Функция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2326714" y="1094417"/>
            <a:ext cx="1253728" cy="337542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0F4F8"/>
                </a:solidFill>
              </a:rPr>
              <a:t>Свойство ACID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3580442" y="1094417"/>
            <a:ext cx="2005971" cy="337542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0F4F8"/>
                </a:solidFill>
              </a:rPr>
              <a:t>Назначение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571500" y="1431959"/>
            <a:ext cx="1755214" cy="49291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Команды Транзакций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2326714" y="1431959"/>
            <a:ext cx="1253728" cy="49291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64545"/>
                </a:solidFill>
              </a:rPr>
              <a:t>Атомарность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3580442" y="1431959"/>
            <a:ext cx="2005971" cy="49291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BEGIN, COMMIT, ROLLBACK, SAVEPOINT для точного контроля.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71500" y="1924878"/>
            <a:ext cx="1755214" cy="485775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Ограничения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2326714" y="1924878"/>
            <a:ext cx="1253728" cy="485775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64545"/>
                </a:solidFill>
              </a:rPr>
              <a:t>Согласованность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3580442" y="1924878"/>
            <a:ext cx="2005971" cy="485775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PRIMARY KEY, FOREIGN KEY, CHECK для обеспечения правил данных.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571500" y="2410653"/>
            <a:ext cx="1755214" cy="625078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MVCC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2326714" y="2410653"/>
            <a:ext cx="1253728" cy="625078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64545"/>
                </a:solidFill>
              </a:rPr>
              <a:t>Изолированность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580442" y="2410653"/>
            <a:ext cx="2005971" cy="625078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Предоставляет согласованный снимок для каждой транзакции, снижая конфликты.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571500" y="3035731"/>
            <a:ext cx="1755214" cy="632222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02A43"/>
                </a:solidFill>
              </a:rPr>
              <a:t>WAL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2326714" y="3035731"/>
            <a:ext cx="1253728" cy="632222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64545"/>
                </a:solidFill>
              </a:rPr>
              <a:t>Долговечность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580442" y="3035731"/>
            <a:ext cx="2005971" cy="632222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E68"/>
                </a:solidFill>
              </a:rPr>
              <a:t>Журналирует все изменения на диск до фиксации, обеспечивая восстановление после сбоя.</a:t>
            </a:r>
            <a:endParaRPr lang="en-US" sz="674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163" y="571500"/>
            <a:ext cx="270033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3673925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31175" y="571500"/>
            <a:ext cx="40413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Комплексный Пример: Банковский Перевод</a:t>
            </a:r>
            <a:endParaRPr lang="en-US" sz="1397" dirty="0"/>
          </a:p>
        </p:txBody>
      </p:sp>
      <p:sp>
        <p:nvSpPr>
          <p:cNvPr id="5" name="Text 1"/>
          <p:cNvSpPr/>
          <p:nvPr/>
        </p:nvSpPr>
        <p:spPr>
          <a:xfrm>
            <a:off x="4531175" y="1222977"/>
            <a:ext cx="4041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64545"/>
                </a:solidFill>
              </a:rPr>
              <a:t>Настройка (Setup)</a:t>
            </a:r>
            <a:endParaRPr lang="en-US" sz="584" dirty="0"/>
          </a:p>
        </p:txBody>
      </p:sp>
      <p:sp>
        <p:nvSpPr>
          <p:cNvPr id="6" name="Shape 2"/>
          <p:cNvSpPr/>
          <p:nvPr/>
        </p:nvSpPr>
        <p:spPr>
          <a:xfrm>
            <a:off x="4531175" y="1496225"/>
            <a:ext cx="4041325" cy="60721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7" name="Shape 3"/>
          <p:cNvSpPr/>
          <p:nvPr/>
        </p:nvSpPr>
        <p:spPr>
          <a:xfrm>
            <a:off x="4531175" y="1496225"/>
            <a:ext cx="28575" cy="607219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" name="Text 4"/>
          <p:cNvSpPr/>
          <p:nvPr/>
        </p:nvSpPr>
        <p:spPr>
          <a:xfrm>
            <a:off x="4531175" y="1496225"/>
            <a:ext cx="4041325" cy="6072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CREATE TABLE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accounts 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account_id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VARCHAR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(10)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PRIMARY KEY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,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balance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NUMERIC CHECK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(balance &gt;= 0)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);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INSERT INTO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VALUES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0EE90"/>
                </a:solidFill>
              </a:rPr>
              <a:t>'A'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, 500), 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0EE90"/>
                </a:solidFill>
              </a:rPr>
              <a:t>'B'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, 200);</a:t>
            </a:r>
            <a:endParaRPr lang="en-US" sz="516" dirty="0"/>
          </a:p>
        </p:txBody>
      </p:sp>
      <p:sp>
        <p:nvSpPr>
          <p:cNvPr id="9" name="Text 5"/>
          <p:cNvSpPr/>
          <p:nvPr/>
        </p:nvSpPr>
        <p:spPr>
          <a:xfrm>
            <a:off x="4531175" y="2274894"/>
            <a:ext cx="4041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64545"/>
                </a:solidFill>
              </a:rPr>
              <a:t>Транзакция (Transaction)</a:t>
            </a:r>
            <a:endParaRPr lang="en-US" sz="584" dirty="0"/>
          </a:p>
        </p:txBody>
      </p:sp>
      <p:sp>
        <p:nvSpPr>
          <p:cNvPr id="10" name="Shape 6"/>
          <p:cNvSpPr/>
          <p:nvPr/>
        </p:nvSpPr>
        <p:spPr>
          <a:xfrm>
            <a:off x="4531175" y="2548142"/>
            <a:ext cx="4041325" cy="51435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1" name="Shape 7"/>
          <p:cNvSpPr/>
          <p:nvPr/>
        </p:nvSpPr>
        <p:spPr>
          <a:xfrm>
            <a:off x="4531175" y="2548142"/>
            <a:ext cx="28575" cy="51435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" name="Text 8"/>
          <p:cNvSpPr/>
          <p:nvPr/>
        </p:nvSpPr>
        <p:spPr>
          <a:xfrm>
            <a:off x="4531175" y="2548142"/>
            <a:ext cx="4041325" cy="5143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BEGIN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UPDATE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SET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balance = balance - 100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WHERE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account_id =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0EE90"/>
                </a:solidFill>
              </a:rPr>
              <a:t>'A'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UPDATE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accounts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SET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balance = balance + 100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WHERE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 account_id =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0EE90"/>
                </a:solidFill>
              </a:rPr>
              <a:t>'B'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;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D700"/>
                </a:solidFill>
              </a:rPr>
              <a:t>COMMIT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8D8EA"/>
                </a:solidFill>
              </a:rPr>
              <a:t>;</a:t>
            </a:r>
            <a:endParaRPr lang="en-US" sz="516" dirty="0"/>
          </a:p>
        </p:txBody>
      </p:sp>
      <p:sp>
        <p:nvSpPr>
          <p:cNvPr id="13" name="Text 9"/>
          <p:cNvSpPr/>
          <p:nvPr/>
        </p:nvSpPr>
        <p:spPr>
          <a:xfrm>
            <a:off x="4531175" y="3233942"/>
            <a:ext cx="4041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64545"/>
                </a:solidFill>
              </a:rPr>
              <a:t>Демонстрация Свойств ACID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4531175" y="3550053"/>
            <a:ext cx="1977786" cy="239985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02A43"/>
                </a:solidFill>
              </a:rPr>
              <a:t>Атомарность: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 Оба UPDATE либо успешны,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либо откатываются.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6594686" y="3550053"/>
            <a:ext cx="1977814" cy="239985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02A43"/>
                </a:solidFill>
              </a:rPr>
              <a:t>Согласованность: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 Соблюдается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ограничение CHECK на баланс.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4531175" y="3875763"/>
            <a:ext cx="1977786" cy="35997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02A43"/>
                </a:solidFill>
              </a:rPr>
              <a:t>Изолированность: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 Параллельные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транзакции видят состояние до или после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COMMIT.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6594686" y="3875763"/>
            <a:ext cx="1977814" cy="35997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02A43"/>
                </a:solidFill>
              </a:rPr>
              <a:t>Долговечность: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 Изменения навсегда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E68"/>
                </a:solidFill>
              </a:rPr>
              <a:t>записаны после COMMIT.</a:t>
            </a:r>
            <a:endParaRPr lang="en-US" sz="5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102A43"/>
                </a:solidFill>
              </a:rPr>
              <a:t>Резюме и Ключевые Выводы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942975" y="1388734"/>
            <a:ext cx="7486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64545"/>
                </a:solidFill>
              </a:rPr>
              <a:t>Ключевой Момент 1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942975" y="1601260"/>
            <a:ext cx="7486650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102A43"/>
                </a:solidFill>
              </a:rPr>
              <a:t>ACID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 — это основа надежности реляционных баз данных, гарантирующая безопасную и согласованную обработку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транзакций, даже при сбоях системы и параллельном доступе.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942975" y="2474584"/>
            <a:ext cx="7486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64545"/>
                </a:solidFill>
              </a:rPr>
              <a:t>Ключевой Момент 2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942975" y="2687110"/>
            <a:ext cx="7486650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102A43"/>
                </a:solidFill>
              </a:rPr>
              <a:t>PostgreSQL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 обеспечивает надежную, корпоративную реализацию всех четырех свойств ACID с помощью MVCC, WAL,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ограничений и комплексного управления транзакциями.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942975" y="3560434"/>
            <a:ext cx="7486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64545"/>
                </a:solidFill>
              </a:rPr>
              <a:t>Ключевой Момент 3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942975" y="3772960"/>
            <a:ext cx="7486650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Понимание этих концепций </a:t>
            </a:r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102A43"/>
                </a:solidFill>
              </a:rPr>
              <a:t>критически важно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 для разработки надежных, параллельных и отказоустойчивых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приложений, которые поддерживают целостность данных в производственной среде.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98652" y="1737382"/>
            <a:ext cx="2146669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731" b="1" spc="-2" kern="0" dirty="0">
                <a:solidFill>
                  <a:srgbClr val="D64545"/>
                </a:solidFill>
              </a:rPr>
              <a:t>Спасибо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3815349" y="2821084"/>
            <a:ext cx="1513275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334E68"/>
                </a:solidFill>
              </a:rPr>
              <a:t>Вопросы</a:t>
            </a:r>
            <a:endParaRPr lang="en-US" sz="24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2025-12-12T08:17:03Z</dcterms:created>
  <dcterms:modified xsi:type="dcterms:W3CDTF">2025-12-12T08:17:03Z</dcterms:modified>
</cp:coreProperties>
</file>