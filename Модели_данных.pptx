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3063" y="1185890"/>
            <a:ext cx="5857875" cy="700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spc="-1" kern="0" dirty="0">
                <a:solidFill>
                  <a:srgbClr val="1A5490"/>
                </a:solidFill>
              </a:rPr>
              <a:t>Модели данных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1643063" y="2343178"/>
            <a:ext cx="585787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97" b="1" dirty="0">
                <a:solidFill>
                  <a:srgbClr val="2C3E50"/>
                </a:solidFill>
              </a:rPr>
              <a:t>Классификация, предметные области и обоснование выбора</a:t>
            </a:r>
            <a:endParaRPr lang="en-US" sz="1397" dirty="0"/>
          </a:p>
        </p:txBody>
      </p:sp>
      <p:sp>
        <p:nvSpPr>
          <p:cNvPr id="5" name="Text 2"/>
          <p:cNvSpPr/>
          <p:nvPr/>
        </p:nvSpPr>
        <p:spPr>
          <a:xfrm>
            <a:off x="1643063" y="3188987"/>
            <a:ext cx="58578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2C3E50">
                    <a:alpha val="85000"/>
                  </a:srgbClr>
                </a:solidFill>
              </a:rPr>
              <a:t>Изучение основных моделей данных и подходов к организации информации в системах управления базами данных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5490"/>
                </a:solidFill>
              </a:rPr>
              <a:t>Что такое модель данных?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992981"/>
            <a:ext cx="40005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Модель данных — это абстрактное, логическое представление данных, описывающее их структуру, связи между ними и ограничения целостности.</a:t>
            </a:r>
            <a:endParaRPr lang="en-US" sz="834" dirty="0"/>
          </a:p>
        </p:txBody>
      </p:sp>
      <p:sp>
        <p:nvSpPr>
          <p:cNvPr id="5" name="Text 2"/>
          <p:cNvSpPr/>
          <p:nvPr/>
        </p:nvSpPr>
        <p:spPr>
          <a:xfrm>
            <a:off x="592931" y="1753009"/>
            <a:ext cx="38361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C3E50"/>
                </a:solidFill>
              </a:rPr>
              <a:t>Определяет структуру: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 как данные будут организованы и храниться в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системе</a:t>
            </a:r>
            <a:endParaRPr lang="en-US" sz="734" dirty="0"/>
          </a:p>
        </p:txBody>
      </p:sp>
      <p:sp>
        <p:nvSpPr>
          <p:cNvPr id="6" name="Text 3"/>
          <p:cNvSpPr/>
          <p:nvPr/>
        </p:nvSpPr>
        <p:spPr>
          <a:xfrm>
            <a:off x="592931" y="2238784"/>
            <a:ext cx="38361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C3E50"/>
                </a:solidFill>
              </a:rPr>
              <a:t>Устанавливает связи: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 как различные элементы данных связаны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между собой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592931" y="2724559"/>
            <a:ext cx="38361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C3E50"/>
                </a:solidFill>
              </a:rPr>
              <a:t>Обеспечивает целостность: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 определяет правила и ограничения для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данных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592931" y="3210334"/>
            <a:ext cx="38361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2C3E50"/>
                </a:solidFill>
              </a:rPr>
              <a:t>Влияет на производительность: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 выбор модели определяет </a:t>
            </a:r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эффективность системы</a:t>
            </a:r>
            <a:endParaRPr lang="en-US" sz="734" dirty="0"/>
          </a:p>
        </p:txBody>
      </p:sp>
      <p:sp>
        <p:nvSpPr>
          <p:cNvPr id="9" name="Shape 6"/>
          <p:cNvSpPr/>
          <p:nvPr/>
        </p:nvSpPr>
        <p:spPr>
          <a:xfrm>
            <a:off x="4857750" y="1000125"/>
            <a:ext cx="4000500" cy="3571875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857750" y="1000125"/>
            <a:ext cx="28575" cy="3571875"/>
          </a:xfrm>
          <a:prstGeom prst="rect">
            <a:avLst/>
          </a:prstGeom>
          <a:solidFill>
            <a:srgbClr val="1A54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452553"/>
            <a:ext cx="4000500" cy="26669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1000125"/>
            <a:ext cx="4000500" cy="3571875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Shape 1"/>
          <p:cNvSpPr/>
          <p:nvPr/>
        </p:nvSpPr>
        <p:spPr>
          <a:xfrm>
            <a:off x="4257675" y="1000125"/>
            <a:ext cx="28575" cy="3571875"/>
          </a:xfrm>
          <a:prstGeom prst="rect">
            <a:avLst/>
          </a:prstGeom>
          <a:solidFill>
            <a:srgbClr val="1A5490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453418"/>
            <a:ext cx="4000500" cy="26652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14875" y="428625"/>
            <a:ext cx="4000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5490"/>
                </a:solidFill>
              </a:rPr>
              <a:t>Иерархическая модель</a:t>
            </a:r>
            <a:endParaRPr lang="en-US" sz="1808" dirty="0"/>
          </a:p>
        </p:txBody>
      </p:sp>
      <p:sp>
        <p:nvSpPr>
          <p:cNvPr id="7" name="Text 3"/>
          <p:cNvSpPr/>
          <p:nvPr/>
        </p:nvSpPr>
        <p:spPr>
          <a:xfrm>
            <a:off x="4714875" y="957263"/>
            <a:ext cx="40005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Данные организованы в виде древовидной структуры с отношениями "один ко многим" (1:M). Каждый элемент-потомок имеет ровно одного родителя.</a:t>
            </a:r>
            <a:endParaRPr lang="en-US" sz="780" dirty="0"/>
          </a:p>
        </p:txBody>
      </p:sp>
      <p:sp>
        <p:nvSpPr>
          <p:cNvPr id="8" name="Text 4"/>
          <p:cNvSpPr/>
          <p:nvPr/>
        </p:nvSpPr>
        <p:spPr>
          <a:xfrm>
            <a:off x="4714875" y="1610916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Предметные области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4714875" y="1818084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Файловые системы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4714875" y="2025253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Организационные структуры</a:t>
            </a:r>
            <a:endParaRPr lang="en-US" sz="727" dirty="0"/>
          </a:p>
        </p:txBody>
      </p:sp>
      <p:sp>
        <p:nvSpPr>
          <p:cNvPr id="11" name="Text 7"/>
          <p:cNvSpPr/>
          <p:nvPr/>
        </p:nvSpPr>
        <p:spPr>
          <a:xfrm>
            <a:off x="4714875" y="2232422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Системы каталогизации</a:t>
            </a:r>
            <a:endParaRPr lang="en-US" sz="727" dirty="0"/>
          </a:p>
        </p:txBody>
      </p:sp>
      <p:sp>
        <p:nvSpPr>
          <p:cNvPr id="12" name="Text 8"/>
          <p:cNvSpPr/>
          <p:nvPr/>
        </p:nvSpPr>
        <p:spPr>
          <a:xfrm>
            <a:off x="4714875" y="2582466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Преимущества</a:t>
            </a:r>
            <a:endParaRPr lang="en-US" sz="683" dirty="0"/>
          </a:p>
        </p:txBody>
      </p:sp>
      <p:sp>
        <p:nvSpPr>
          <p:cNvPr id="13" name="Text 9"/>
          <p:cNvSpPr/>
          <p:nvPr/>
        </p:nvSpPr>
        <p:spPr>
          <a:xfrm>
            <a:off x="4714875" y="2789634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Простота навигации по иерархическим путям</a:t>
            </a:r>
            <a:endParaRPr lang="en-US" sz="727" dirty="0"/>
          </a:p>
        </p:txBody>
      </p:sp>
      <p:sp>
        <p:nvSpPr>
          <p:cNvPr id="14" name="Text 10"/>
          <p:cNvSpPr/>
          <p:nvPr/>
        </p:nvSpPr>
        <p:spPr>
          <a:xfrm>
            <a:off x="4714875" y="2996803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Высокая скорость доступа к данным</a:t>
            </a:r>
            <a:endParaRPr lang="en-US" sz="727" dirty="0"/>
          </a:p>
        </p:txBody>
      </p:sp>
      <p:sp>
        <p:nvSpPr>
          <p:cNvPr id="15" name="Text 11"/>
          <p:cNvSpPr/>
          <p:nvPr/>
        </p:nvSpPr>
        <p:spPr>
          <a:xfrm>
            <a:off x="4714875" y="3203972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Естественное представление иерархических данных</a:t>
            </a:r>
            <a:endParaRPr lang="en-US" sz="727" dirty="0"/>
          </a:p>
        </p:txBody>
      </p:sp>
      <p:sp>
        <p:nvSpPr>
          <p:cNvPr id="16" name="Text 12"/>
          <p:cNvSpPr/>
          <p:nvPr/>
        </p:nvSpPr>
        <p:spPr>
          <a:xfrm>
            <a:off x="4714875" y="3554016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Почему удобна</a:t>
            </a:r>
            <a:endParaRPr lang="en-US" sz="683" dirty="0"/>
          </a:p>
        </p:txBody>
      </p:sp>
      <p:sp>
        <p:nvSpPr>
          <p:cNvPr id="17" name="Text 13"/>
          <p:cNvSpPr/>
          <p:nvPr/>
        </p:nvSpPr>
        <p:spPr>
          <a:xfrm>
            <a:off x="4714875" y="3761184"/>
            <a:ext cx="40005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Идеально подходит для данных, которые по своей природе имеют строгую иерархию. Обеспечивает интуитивное представление структуры и эффективный доступ к информации.</a:t>
            </a:r>
            <a:endParaRPr lang="en-US" sz="780" dirty="0"/>
          </a:p>
        </p:txBody>
      </p:sp>
      <p:sp>
        <p:nvSpPr>
          <p:cNvPr id="18" name="Text 14"/>
          <p:cNvSpPr/>
          <p:nvPr/>
        </p:nvSpPr>
        <p:spPr>
          <a:xfrm>
            <a:off x="4714875" y="1818084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19" name="Text 15"/>
          <p:cNvSpPr/>
          <p:nvPr/>
        </p:nvSpPr>
        <p:spPr>
          <a:xfrm>
            <a:off x="4714875" y="2025253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20" name="Text 16"/>
          <p:cNvSpPr/>
          <p:nvPr/>
        </p:nvSpPr>
        <p:spPr>
          <a:xfrm>
            <a:off x="4714875" y="2232422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21" name="Text 17"/>
          <p:cNvSpPr/>
          <p:nvPr/>
        </p:nvSpPr>
        <p:spPr>
          <a:xfrm>
            <a:off x="4714875" y="2789634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22" name="Text 18"/>
          <p:cNvSpPr/>
          <p:nvPr/>
        </p:nvSpPr>
        <p:spPr>
          <a:xfrm>
            <a:off x="4714875" y="2996803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4714875" y="3203972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5490"/>
                </a:solidFill>
              </a:rPr>
              <a:t>Сетевая модель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957263"/>
            <a:ext cx="40005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Расширение иерархической модели, позволяющее элементам-потомкам иметь несколько родителей. Поддерживает отношения "многие ко многим" (M:M).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428625" y="1610916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Предметные области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818084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Системы управления проектами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2025253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Производственные цепочки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232422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Системы планирования ресурсов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28625" y="2582466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Преимущества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28625" y="2789634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Поддержка отношений многие-ко-многим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28625" y="2996803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Минимизация избыточности данных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28625" y="3203972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Гибкость в моделировании сложных связей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28625" y="3554016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Почему удобна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28625" y="3761184"/>
            <a:ext cx="40005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Позволяет эффективно моделировать реальные ситуации, где объекты имеют множественные связи. Обеспечивает гибкость и минимизирует дублирование информации.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428625" y="1818084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28625" y="2025253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28625" y="2232422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28625" y="2789634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28625" y="2996803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28625" y="3203972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4857750" y="1000125"/>
            <a:ext cx="4000500" cy="3571875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Shape 19"/>
          <p:cNvSpPr/>
          <p:nvPr/>
        </p:nvSpPr>
        <p:spPr>
          <a:xfrm>
            <a:off x="4857750" y="1000125"/>
            <a:ext cx="28575" cy="3571875"/>
          </a:xfrm>
          <a:prstGeom prst="rect">
            <a:avLst/>
          </a:prstGeom>
          <a:solidFill>
            <a:srgbClr val="1A5490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284229"/>
            <a:ext cx="4000500" cy="3003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5490"/>
                </a:solidFill>
              </a:rPr>
              <a:t>Реляционная модель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957263"/>
            <a:ext cx="40005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Данные представляются в виде двумерных таблиц (отношений). Связи между таблицами устанавливаются через общие атрибуты (ключи). Основана на математической теории множеств.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428625" y="1610916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Предметные области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818084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Банковские системы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2025253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Учетные системы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232422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Интернет-магазины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28625" y="2439591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Системы управления ресурсами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28625" y="2775347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Преимущества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2982516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Высокая степень нормализации данных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28625" y="3189684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Строгие правила целостности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28625" y="3396853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Минимизация избыточности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428625" y="3604022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Поддержка ACID-свойств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28625" y="3939778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Почему удобна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28625" y="4146947"/>
            <a:ext cx="40005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Стандарт для критически важных систем. Обеспечивает точность транзакций и непротиворечивость данных благодаря строгим правилам целостности.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428625" y="1818084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28625" y="2025253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28625" y="2232422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28625" y="2439591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428625" y="2982516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28625" y="3189684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428625" y="3396853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428625" y="3604022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25" name="Shape 22"/>
          <p:cNvSpPr/>
          <p:nvPr/>
        </p:nvSpPr>
        <p:spPr>
          <a:xfrm>
            <a:off x="4857750" y="1000125"/>
            <a:ext cx="4000500" cy="3571875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6" name="Shape 23"/>
          <p:cNvSpPr/>
          <p:nvPr/>
        </p:nvSpPr>
        <p:spPr>
          <a:xfrm>
            <a:off x="4857750" y="1000125"/>
            <a:ext cx="28575" cy="3571875"/>
          </a:xfrm>
          <a:prstGeom prst="rect">
            <a:avLst/>
          </a:prstGeom>
          <a:solidFill>
            <a:srgbClr val="1A5490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266258"/>
            <a:ext cx="4000500" cy="30395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5490"/>
                </a:solidFill>
              </a:rPr>
              <a:t>Объектно-ориентированная модель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307306"/>
            <a:ext cx="40005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Данные и операции инкапсулируются в единую структуру — объект. Поддерживает наследование, полиморфизм и абстракцию.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428625" y="1778794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Ключевые концепции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985963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Инкапсуляция данных и методов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2193131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Наследование от других объектов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400300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Полиморфизм и абстракция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28625" y="2736056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Предметные области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28625" y="2943225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САПР (CAD системы)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28625" y="3150394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ГИС (геоинформационные системы)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28625" y="3357563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Мультимедийные базы данных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28625" y="3693319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Почему удобна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428625" y="3900488"/>
            <a:ext cx="4000500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Позволяет хранить сложные, неструктурированные данные как единые сущности. Упрощает разработку приложений, использующих ООП-языки, и обеспечивает естественное моделирование реальных объектов.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28625" y="1985963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7AE60"/>
                </a:solidFill>
              </a:rPr>
              <a:t>◆</a:t>
            </a:r>
            <a:endParaRPr lang="en-US" sz="621" dirty="0"/>
          </a:p>
        </p:txBody>
      </p:sp>
      <p:sp>
        <p:nvSpPr>
          <p:cNvPr id="16" name="Text 13"/>
          <p:cNvSpPr/>
          <p:nvPr/>
        </p:nvSpPr>
        <p:spPr>
          <a:xfrm>
            <a:off x="428625" y="2193131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7AE60"/>
                </a:solidFill>
              </a:rPr>
              <a:t>◆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428625" y="2400300"/>
            <a:ext cx="857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27AE60"/>
                </a:solidFill>
              </a:rPr>
              <a:t>◆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428625" y="2943225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28625" y="3150394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28625" y="3357563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4857750" y="1000125"/>
            <a:ext cx="4000500" cy="3571875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Shape 19"/>
          <p:cNvSpPr/>
          <p:nvPr/>
        </p:nvSpPr>
        <p:spPr>
          <a:xfrm>
            <a:off x="4857750" y="1000125"/>
            <a:ext cx="28575" cy="3571875"/>
          </a:xfrm>
          <a:prstGeom prst="rect">
            <a:avLst/>
          </a:prstGeom>
          <a:solidFill>
            <a:srgbClr val="1A5490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660922"/>
            <a:ext cx="4000500" cy="22502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00050"/>
            <a:ext cx="8286750" cy="389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dirty="0">
                <a:solidFill>
                  <a:srgbClr val="1A5490"/>
                </a:solidFill>
              </a:rPr>
              <a:t>Документная модель (NoSQL)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428625" y="1003697"/>
            <a:ext cx="3964781" cy="24110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E74C3C"/>
                </a:solidFill>
              </a:rPr>
              <a:t>Характеристики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28625" y="1351955"/>
            <a:ext cx="3964781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Данные хранятся в виде коллекций документов (JSON, BSON). Схема данных гибкая и не требует предварительного определения.</a:t>
            </a:r>
            <a:endParaRPr lang="en-US" sz="780" dirty="0"/>
          </a:p>
        </p:txBody>
      </p:sp>
      <p:sp>
        <p:nvSpPr>
          <p:cNvPr id="6" name="Text 3"/>
          <p:cNvSpPr/>
          <p:nvPr/>
        </p:nvSpPr>
        <p:spPr>
          <a:xfrm>
            <a:off x="428625" y="1859161"/>
            <a:ext cx="3964781" cy="15001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Каждый документ может иметь уникальный набор полей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2094905"/>
            <a:ext cx="3964781" cy="15001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Поддерживает вложенные структуры данных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330648"/>
            <a:ext cx="3964781" cy="15001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Динамическое добавление новых атрибутов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28625" y="1859161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7AE60"/>
                </a:solidFill>
              </a:rPr>
              <a:t>▸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28625" y="2094905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7AE60"/>
                </a:solidFill>
              </a:rPr>
              <a:t>▸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28625" y="2330648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7AE60"/>
                </a:solidFill>
              </a:rPr>
              <a:t>▸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750594" y="1003697"/>
            <a:ext cx="3964781" cy="24110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E74C3C"/>
                </a:solidFill>
              </a:rPr>
              <a:t>Предметные области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750594" y="1351955"/>
            <a:ext cx="3964781" cy="15001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Системы управления контентом (CMS)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4750594" y="1587698"/>
            <a:ext cx="3964781" cy="15001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Каталоги товаров с меняющимися атрибутами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4750594" y="1823442"/>
            <a:ext cx="3964781" cy="15001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Профили пользователей в социальных сетях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4750594" y="2059186"/>
            <a:ext cx="3964781" cy="15001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Системы логирования и аналитики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4750594" y="2294930"/>
            <a:ext cx="3964781" cy="150019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Мобильные приложения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428625" y="2780705"/>
            <a:ext cx="8286750" cy="684349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2780705"/>
            <a:ext cx="28575" cy="684349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20" name="Text 17"/>
          <p:cNvSpPr/>
          <p:nvPr/>
        </p:nvSpPr>
        <p:spPr>
          <a:xfrm>
            <a:off x="4750594" y="1351955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7AE60"/>
                </a:solidFill>
              </a:rPr>
              <a:t>▸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4750594" y="1587698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7AE60"/>
                </a:solidFill>
              </a:rPr>
              <a:t>▸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750594" y="1823442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7AE60"/>
                </a:solidFill>
              </a:rPr>
              <a:t>▸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750594" y="2059186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7AE60"/>
                </a:solidFill>
              </a:rPr>
              <a:t>▸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750594" y="2294930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7AE60"/>
                </a:solidFill>
              </a:rPr>
              <a:t>▸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607219" y="2923580"/>
            <a:ext cx="7929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Почему удобна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607219" y="3145036"/>
            <a:ext cx="792956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Идеально подходит для быстро меняющихся данных, где каждый объект может иметь уникальный набор атрибутов. Позволяет добавлять новые поля без изменения схемы всей базы данных, обеспечивая высокую скорость разработки и гибкость системы.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0005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5490"/>
                </a:solidFill>
              </a:rPr>
              <a:t>Графовая модель (NoSQL)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957263"/>
            <a:ext cx="400050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Данные представляются в виде узлов (сущностей) и ребер (связей) между ними. Акцент делается на связях и их свойствах.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428625" y="1428750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Предметные области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28625" y="1635919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Социальные сети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1843088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Рекомендательные системы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2050256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Анализ мошенничества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28625" y="2257425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Системы поиска маршрутов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28625" y="2607469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Преимущества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28625" y="2814638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Эффективные запросы по обходу связей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428625" y="3021806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Быстрый поиск кратчайших путей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28625" y="3228975"/>
            <a:ext cx="4000500" cy="135731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Выявление сообществ и паттернов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428625" y="3579019"/>
            <a:ext cx="40005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E74C3C"/>
                </a:solidFill>
              </a:rPr>
              <a:t>Почему удобна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428625" y="3786188"/>
            <a:ext cx="4000500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2C3E50"/>
                </a:solidFill>
              </a:rPr>
              <a:t>Чрезвычайно эффективна для запросов, связанных с обходом связей. Позволяет быстро находить кратчайшие пути и сообщества, что невозможно эффективно реализовать в реляционной модели.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428625" y="1635919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28625" y="1843088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28625" y="2050256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428625" y="2257425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▸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28625" y="2814638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428625" y="3021806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28625" y="3228975"/>
            <a:ext cx="7233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7AE60"/>
                </a:solidFill>
              </a:rPr>
              <a:t>✓</a:t>
            </a:r>
            <a:endParaRPr lang="en-US" sz="683" dirty="0"/>
          </a:p>
        </p:txBody>
      </p:sp>
      <p:sp>
        <p:nvSpPr>
          <p:cNvPr id="23" name="Shape 20"/>
          <p:cNvSpPr/>
          <p:nvPr/>
        </p:nvSpPr>
        <p:spPr>
          <a:xfrm>
            <a:off x="4857750" y="1000125"/>
            <a:ext cx="4000500" cy="3571875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1"/>
          <p:cNvSpPr/>
          <p:nvPr/>
        </p:nvSpPr>
        <p:spPr>
          <a:xfrm>
            <a:off x="4857750" y="1000125"/>
            <a:ext cx="28575" cy="3571875"/>
          </a:xfrm>
          <a:prstGeom prst="rect">
            <a:avLst/>
          </a:prstGeom>
          <a:solidFill>
            <a:srgbClr val="1A5490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0" y="1423364"/>
            <a:ext cx="4000500" cy="27253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00050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1A5490"/>
                </a:solidFill>
              </a:rPr>
              <a:t>Выводы</a:t>
            </a:r>
            <a:endParaRPr lang="en-US" sz="2226" dirty="0"/>
          </a:p>
        </p:txBody>
      </p:sp>
      <p:sp>
        <p:nvSpPr>
          <p:cNvPr id="4" name="Text 1"/>
          <p:cNvSpPr/>
          <p:nvPr/>
        </p:nvSpPr>
        <p:spPr>
          <a:xfrm>
            <a:off x="600075" y="1257300"/>
            <a:ext cx="24479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1A5490"/>
                </a:solidFill>
              </a:rPr>
              <a:t>Выбор модели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600075" y="1498402"/>
            <a:ext cx="2447906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Зависит от характера данных и требований предметной области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600075" y="1838399"/>
            <a:ext cx="2447906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Структурированность данных</a:t>
            </a:r>
            <a:endParaRPr lang="en-US" sz="674" dirty="0"/>
          </a:p>
        </p:txBody>
      </p:sp>
      <p:sp>
        <p:nvSpPr>
          <p:cNvPr id="7" name="Text 4"/>
          <p:cNvSpPr/>
          <p:nvPr/>
        </p:nvSpPr>
        <p:spPr>
          <a:xfrm>
            <a:off x="600075" y="2049140"/>
            <a:ext cx="2447906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Типы связей между объектами</a:t>
            </a:r>
            <a:endParaRPr lang="en-US" sz="674" dirty="0"/>
          </a:p>
        </p:txBody>
      </p:sp>
      <p:sp>
        <p:nvSpPr>
          <p:cNvPr id="8" name="Text 5"/>
          <p:cNvSpPr/>
          <p:nvPr/>
        </p:nvSpPr>
        <p:spPr>
          <a:xfrm>
            <a:off x="600075" y="2259881"/>
            <a:ext cx="2447906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Требования к целостности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600075" y="1838399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5490"/>
                </a:solidFill>
              </a:rPr>
              <a:t>▸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600075" y="2049140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5490"/>
                </a:solidFill>
              </a:rPr>
              <a:t>▸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600075" y="2259881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5490"/>
                </a:solidFill>
              </a:rPr>
              <a:t>▸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3433744" y="1257300"/>
            <a:ext cx="24479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E74C3C"/>
                </a:solidFill>
              </a:rPr>
              <a:t>Традиционные модели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3433744" y="1498402"/>
            <a:ext cx="2447934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Остаются стандартом для критических систем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3433744" y="1668400"/>
            <a:ext cx="2447934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Реляционная: транзакции и целостность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3433744" y="1879141"/>
            <a:ext cx="2447934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Иерархическая: строгие иерархии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3433744" y="2089882"/>
            <a:ext cx="2447934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Сетевая: сложные связи</a:t>
            </a:r>
            <a:endParaRPr lang="en-US" sz="674" dirty="0"/>
          </a:p>
        </p:txBody>
      </p:sp>
      <p:sp>
        <p:nvSpPr>
          <p:cNvPr id="17" name="Text 14"/>
          <p:cNvSpPr/>
          <p:nvPr/>
        </p:nvSpPr>
        <p:spPr>
          <a:xfrm>
            <a:off x="3433744" y="1668400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74C3C"/>
                </a:solidFill>
              </a:rPr>
              <a:t>▸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3433744" y="1879141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74C3C"/>
                </a:solidFill>
              </a:rPr>
              <a:t>▸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3433744" y="2089882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E74C3C"/>
                </a:solidFill>
              </a:rPr>
              <a:t>▸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6267441" y="1257300"/>
            <a:ext cx="24479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27AE60"/>
                </a:solidFill>
              </a:rPr>
              <a:t>NoSQL модели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6267441" y="1498402"/>
            <a:ext cx="2447906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Обеспечивают гибкость и масштабируемость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6267441" y="1668400"/>
            <a:ext cx="2447906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Документная: быстро меняющиеся данные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6267441" y="1879141"/>
            <a:ext cx="2447906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Графовая: анализ связей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6267441" y="2089882"/>
            <a:ext cx="2447906" cy="139303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2C3E50"/>
                </a:solidFill>
              </a:rPr>
              <a:t>Другие: специализированные задачи</a:t>
            </a:r>
            <a:endParaRPr lang="en-US" sz="674" dirty="0"/>
          </a:p>
        </p:txBody>
      </p:sp>
      <p:sp>
        <p:nvSpPr>
          <p:cNvPr id="25" name="Shape 22"/>
          <p:cNvSpPr/>
          <p:nvPr/>
        </p:nvSpPr>
        <p:spPr>
          <a:xfrm>
            <a:off x="428625" y="2756371"/>
            <a:ext cx="8286750" cy="2214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625" y="2756371"/>
            <a:ext cx="8286750" cy="21431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27" name="Shape 24"/>
          <p:cNvSpPr/>
          <p:nvPr/>
        </p:nvSpPr>
        <p:spPr>
          <a:xfrm>
            <a:off x="428625" y="2956396"/>
            <a:ext cx="8286750" cy="21431"/>
          </a:xfrm>
          <a:prstGeom prst="rect">
            <a:avLst/>
          </a:prstGeom>
          <a:solidFill>
            <a:srgbClr val="1A5490"/>
          </a:solidFill>
          <a:ln/>
        </p:spPr>
      </p:sp>
      <p:sp>
        <p:nvSpPr>
          <p:cNvPr id="28" name="Text 25"/>
          <p:cNvSpPr/>
          <p:nvPr/>
        </p:nvSpPr>
        <p:spPr>
          <a:xfrm>
            <a:off x="428625" y="2756371"/>
            <a:ext cx="8286750" cy="221456"/>
          </a:xfrm>
          <a:prstGeom prst="rect">
            <a:avLst/>
          </a:prstGeom>
          <a:noFill/>
          <a:ln/>
        </p:spPr>
        <p:txBody>
          <a:bodyPr wrap="square" lIns="255143" tIns="212598" rIns="255143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6267441" y="1668400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7AE60"/>
                </a:solidFill>
              </a:rPr>
              <a:t>▸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6267441" y="1879141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7AE60"/>
                </a:solidFill>
              </a:rPr>
              <a:t>▸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6267441" y="2089882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7AE60"/>
                </a:solidFill>
              </a:rPr>
              <a:t>▸</a:t>
            </a:r>
            <a:endParaRPr lang="en-US" sz="6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2025-11-25T09:33:36Z</dcterms:created>
  <dcterms:modified xsi:type="dcterms:W3CDTF">2025-11-25T09:33:36Z</dcterms:modified>
</cp:coreProperties>
</file>